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63" r:id="rId3"/>
    <p:sldId id="276" r:id="rId4"/>
    <p:sldId id="282" r:id="rId5"/>
    <p:sldId id="261" r:id="rId6"/>
    <p:sldId id="265" r:id="rId7"/>
    <p:sldId id="270" r:id="rId8"/>
    <p:sldId id="291" r:id="rId9"/>
    <p:sldId id="289" r:id="rId10"/>
    <p:sldId id="268" r:id="rId11"/>
    <p:sldId id="285" r:id="rId12"/>
    <p:sldId id="275" r:id="rId13"/>
    <p:sldId id="292" r:id="rId14"/>
    <p:sldId id="286" r:id="rId15"/>
    <p:sldId id="287" r:id="rId16"/>
    <p:sldId id="271" r:id="rId17"/>
    <p:sldId id="273" r:id="rId18"/>
    <p:sldId id="288" r:id="rId19"/>
    <p:sldId id="290" r:id="rId20"/>
    <p:sldId id="264" r:id="rId21"/>
    <p:sldId id="280" r:id="rId22"/>
    <p:sldId id="274" r:id="rId23"/>
    <p:sldId id="259" r:id="rId24"/>
  </p:sldIdLst>
  <p:sldSz cx="12192000" cy="6858000"/>
  <p:notesSz cx="6858000" cy="9144000"/>
  <p:embeddedFontLst>
    <p:embeddedFont>
      <p:font typeface="Libre Baskerville" panose="02000000000000000000" pitchFamily="2" charset="0"/>
      <p:regular r:id="rId26"/>
      <p:bold r:id="rId27"/>
      <p:italic r:id="rId2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i4HmEECUlll0m8HTY06QsqsmZGG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91" y="10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kshitha Manne" userId="2c249b4076541131" providerId="LiveId" clId="{D88258E9-747F-4BDF-B7F0-6FC57215C80C}"/>
    <pc:docChg chg="undo custSel modSld">
      <pc:chgData name="Akshitha Manne" userId="2c249b4076541131" providerId="LiveId" clId="{D88258E9-747F-4BDF-B7F0-6FC57215C80C}" dt="2026-05-13T06:03:28.911" v="43" actId="20577"/>
      <pc:docMkLst>
        <pc:docMk/>
      </pc:docMkLst>
      <pc:sldChg chg="modSp mod">
        <pc:chgData name="Akshitha Manne" userId="2c249b4076541131" providerId="LiveId" clId="{D88258E9-747F-4BDF-B7F0-6FC57215C80C}" dt="2026-05-13T06:03:02.808" v="42" actId="20577"/>
        <pc:sldMkLst>
          <pc:docMk/>
          <pc:sldMk cId="1881046815" sldId="265"/>
        </pc:sldMkLst>
        <pc:spChg chg="mod">
          <ac:chgData name="Akshitha Manne" userId="2c249b4076541131" providerId="LiveId" clId="{D88258E9-747F-4BDF-B7F0-6FC57215C80C}" dt="2026-05-13T06:03:02.808" v="42" actId="20577"/>
          <ac:spMkLst>
            <pc:docMk/>
            <pc:sldMk cId="1881046815" sldId="265"/>
            <ac:spMk id="3" creationId="{94B11CB6-B59E-97CC-EFA2-E241E5DDBADB}"/>
          </ac:spMkLst>
        </pc:spChg>
      </pc:sldChg>
      <pc:sldChg chg="modSp mod">
        <pc:chgData name="Akshitha Manne" userId="2c249b4076541131" providerId="LiveId" clId="{D88258E9-747F-4BDF-B7F0-6FC57215C80C}" dt="2026-05-12T10:48:02.019" v="1" actId="20577"/>
        <pc:sldMkLst>
          <pc:docMk/>
          <pc:sldMk cId="1342571149" sldId="275"/>
        </pc:sldMkLst>
        <pc:graphicFrameChg chg="modGraphic">
          <ac:chgData name="Akshitha Manne" userId="2c249b4076541131" providerId="LiveId" clId="{D88258E9-747F-4BDF-B7F0-6FC57215C80C}" dt="2026-05-12T10:48:02.019" v="1" actId="20577"/>
          <ac:graphicFrameMkLst>
            <pc:docMk/>
            <pc:sldMk cId="1342571149" sldId="275"/>
            <ac:graphicFrameMk id="4" creationId="{41D62F64-9CDD-F056-7CBD-713DD37D7B96}"/>
          </ac:graphicFrameMkLst>
        </pc:graphicFrameChg>
      </pc:sldChg>
      <pc:sldChg chg="modSp mod">
        <pc:chgData name="Akshitha Manne" userId="2c249b4076541131" providerId="LiveId" clId="{D88258E9-747F-4BDF-B7F0-6FC57215C80C}" dt="2026-05-13T06:03:28.911" v="43" actId="20577"/>
        <pc:sldMkLst>
          <pc:docMk/>
          <pc:sldMk cId="887401220" sldId="276"/>
        </pc:sldMkLst>
        <pc:spChg chg="mod">
          <ac:chgData name="Akshitha Manne" userId="2c249b4076541131" providerId="LiveId" clId="{D88258E9-747F-4BDF-B7F0-6FC57215C80C}" dt="2026-05-13T06:03:28.911" v="43" actId="20577"/>
          <ac:spMkLst>
            <pc:docMk/>
            <pc:sldMk cId="887401220" sldId="276"/>
            <ac:spMk id="3" creationId="{989C084F-2C41-9110-0271-53757EE67B2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hyperlink" Target="https://huggingface.co/spaces/AkshithaReddyManne/Aircraft_engine_prediction?logs=build"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9" name="Google Shape;99;p1"/>
          <p:cNvSpPr txBox="1"/>
          <p:nvPr/>
        </p:nvSpPr>
        <p:spPr>
          <a:xfrm>
            <a:off x="2322179" y="297781"/>
            <a:ext cx="7246189" cy="98484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br>
              <a:rPr lang="en-IN" sz="1800" b="0" i="0" u="none" strike="noStrike" cap="none" dirty="0">
                <a:solidFill>
                  <a:schemeClr val="dk1"/>
                </a:solidFill>
                <a:latin typeface="Calibri"/>
                <a:ea typeface="Calibri"/>
                <a:cs typeface="Calibri"/>
                <a:sym typeface="Calibri"/>
              </a:rPr>
            </a:br>
            <a:endParaRPr sz="4000" b="1" i="0" u="none" strike="noStrike" cap="none" dirty="0">
              <a:solidFill>
                <a:schemeClr val="tx1"/>
              </a:solidFill>
              <a:latin typeface="Arial"/>
              <a:ea typeface="Arial"/>
              <a:cs typeface="Arial"/>
              <a:sym typeface="Arial"/>
            </a:endParaRPr>
          </a:p>
        </p:txBody>
      </p:sp>
      <p:sp>
        <p:nvSpPr>
          <p:cNvPr id="2" name="TextBox 1">
            <a:extLst>
              <a:ext uri="{FF2B5EF4-FFF2-40B4-BE49-F238E27FC236}">
                <a16:creationId xmlns:a16="http://schemas.microsoft.com/office/drawing/2014/main" id="{7F21D08D-8579-08B8-B799-1FFC8031E15D}"/>
              </a:ext>
            </a:extLst>
          </p:cNvPr>
          <p:cNvSpPr txBox="1"/>
          <p:nvPr/>
        </p:nvSpPr>
        <p:spPr>
          <a:xfrm>
            <a:off x="8983227" y="5329132"/>
            <a:ext cx="3084844" cy="738664"/>
          </a:xfrm>
          <a:prstGeom prst="rect">
            <a:avLst/>
          </a:prstGeom>
          <a:noFill/>
        </p:spPr>
        <p:txBody>
          <a:bodyPr wrap="square" rtlCol="0">
            <a:spAutoFit/>
          </a:bodyPr>
          <a:lstStyle/>
          <a:p>
            <a:r>
              <a:rPr lang="en-IN" dirty="0"/>
              <a:t>PRESENTED BY:</a:t>
            </a:r>
          </a:p>
          <a:p>
            <a:r>
              <a:rPr lang="en-IN" dirty="0"/>
              <a:t>M.AKSHITHA</a:t>
            </a:r>
          </a:p>
          <a:p>
            <a:r>
              <a:rPr lang="en-IN" dirty="0"/>
              <a:t>BATCH NO:456</a:t>
            </a:r>
          </a:p>
        </p:txBody>
      </p:sp>
      <p:sp>
        <p:nvSpPr>
          <p:cNvPr id="3" name="TextBox 2">
            <a:extLst>
              <a:ext uri="{FF2B5EF4-FFF2-40B4-BE49-F238E27FC236}">
                <a16:creationId xmlns:a16="http://schemas.microsoft.com/office/drawing/2014/main" id="{A815AD3B-50F5-9063-BEB7-9D85C57B6E5E}"/>
              </a:ext>
            </a:extLst>
          </p:cNvPr>
          <p:cNvSpPr txBox="1"/>
          <p:nvPr/>
        </p:nvSpPr>
        <p:spPr>
          <a:xfrm>
            <a:off x="304800" y="297781"/>
            <a:ext cx="11562080" cy="1077218"/>
          </a:xfrm>
          <a:prstGeom prst="rect">
            <a:avLst/>
          </a:prstGeom>
          <a:noFill/>
        </p:spPr>
        <p:txBody>
          <a:bodyPr wrap="square" rtlCol="0">
            <a:spAutoFit/>
          </a:bodyPr>
          <a:lstStyle/>
          <a:p>
            <a:pPr algn="ctr"/>
            <a:r>
              <a:rPr lang="en-US" sz="3200" b="1" dirty="0"/>
              <a:t>Aircraft Engine Predictive Maintenance Using Machine          Learning and Clustering</a:t>
            </a:r>
            <a:endParaRPr lang="en-IN" sz="3200" b="1" dirty="0"/>
          </a:p>
        </p:txBody>
      </p:sp>
      <p:pic>
        <p:nvPicPr>
          <p:cNvPr id="5" name="Picture 4">
            <a:extLst>
              <a:ext uri="{FF2B5EF4-FFF2-40B4-BE49-F238E27FC236}">
                <a16:creationId xmlns:a16="http://schemas.microsoft.com/office/drawing/2014/main" id="{399693B9-9751-697B-DC7B-7E1CCFB5AADB}"/>
              </a:ext>
            </a:extLst>
          </p:cNvPr>
          <p:cNvPicPr>
            <a:picLocks noChangeAspect="1"/>
          </p:cNvPicPr>
          <p:nvPr/>
        </p:nvPicPr>
        <p:blipFill>
          <a:blip r:embed="rId3"/>
          <a:stretch>
            <a:fillRect/>
          </a:stretch>
        </p:blipFill>
        <p:spPr>
          <a:xfrm>
            <a:off x="2288684" y="1950162"/>
            <a:ext cx="6624204" cy="33789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B8712-8BEE-44BA-242F-99E3B57B7E9A}"/>
              </a:ext>
            </a:extLst>
          </p:cNvPr>
          <p:cNvSpPr>
            <a:spLocks noGrp="1"/>
          </p:cNvSpPr>
          <p:nvPr>
            <p:ph type="title"/>
          </p:nvPr>
        </p:nvSpPr>
        <p:spPr/>
        <p:txBody>
          <a:bodyPr/>
          <a:lstStyle/>
          <a:p>
            <a:pPr algn="ctr"/>
            <a:r>
              <a:rPr lang="en-IN" b="1" dirty="0"/>
              <a:t>AGENDA</a:t>
            </a:r>
          </a:p>
        </p:txBody>
      </p:sp>
      <p:sp>
        <p:nvSpPr>
          <p:cNvPr id="3" name="Text Placeholder 2">
            <a:extLst>
              <a:ext uri="{FF2B5EF4-FFF2-40B4-BE49-F238E27FC236}">
                <a16:creationId xmlns:a16="http://schemas.microsoft.com/office/drawing/2014/main" id="{DBA05A6B-0555-556C-6175-9F5758C94E2D}"/>
              </a:ext>
            </a:extLst>
          </p:cNvPr>
          <p:cNvSpPr>
            <a:spLocks noGrp="1"/>
          </p:cNvSpPr>
          <p:nvPr>
            <p:ph type="body" idx="1"/>
          </p:nvPr>
        </p:nvSpPr>
        <p:spPr>
          <a:xfrm>
            <a:off x="838200" y="1416818"/>
            <a:ext cx="11169580" cy="4760145"/>
          </a:xfrm>
        </p:spPr>
        <p:txBody>
          <a:bodyPr>
            <a:normAutofit fontScale="62500" lnSpcReduction="20000"/>
          </a:bodyPr>
          <a:lstStyle/>
          <a:p>
            <a:pPr lvl="0" indent="-431800">
              <a:buSzPts val="2400"/>
            </a:pPr>
            <a:r>
              <a:rPr lang="en-US" b="1" dirty="0"/>
              <a:t>I</a:t>
            </a:r>
            <a:r>
              <a:rPr lang="en-IN" b="1" dirty="0" err="1"/>
              <a:t>ntroduction</a:t>
            </a:r>
            <a:endParaRPr lang="en-IN" b="1" dirty="0"/>
          </a:p>
          <a:p>
            <a:pPr lvl="0" indent="-431800">
              <a:buSzPts val="2400"/>
            </a:pPr>
            <a:r>
              <a:rPr lang="en-US" b="1" dirty="0"/>
              <a:t>Crisp-ML(Q) Methodology</a:t>
            </a:r>
          </a:p>
          <a:p>
            <a:pPr lvl="0" indent="-431800">
              <a:buSzPts val="2400"/>
            </a:pPr>
            <a:r>
              <a:rPr lang="en-US" b="1" dirty="0"/>
              <a:t>Business Problem</a:t>
            </a:r>
          </a:p>
          <a:p>
            <a:pPr lvl="0" indent="-431800">
              <a:buSzPts val="2400"/>
            </a:pPr>
            <a:r>
              <a:rPr lang="en-US" b="1" dirty="0"/>
              <a:t>Dataset Overview</a:t>
            </a:r>
          </a:p>
          <a:p>
            <a:pPr lvl="0" indent="-431800">
              <a:buSzPts val="2400"/>
            </a:pPr>
            <a:r>
              <a:rPr lang="en-US" b="1" dirty="0"/>
              <a:t>Data Preprocessing</a:t>
            </a:r>
          </a:p>
          <a:p>
            <a:pPr lvl="0" indent="-431800">
              <a:buSzPts val="2400"/>
            </a:pPr>
            <a:r>
              <a:rPr lang="en-US" b="1" dirty="0"/>
              <a:t>Model Building</a:t>
            </a:r>
          </a:p>
          <a:p>
            <a:pPr lvl="0" indent="-431800">
              <a:buSzPts val="2400"/>
            </a:pPr>
            <a:r>
              <a:rPr lang="en-US" b="1" dirty="0"/>
              <a:t>Model Evaluation</a:t>
            </a:r>
          </a:p>
          <a:p>
            <a:pPr lvl="0" indent="-431800">
              <a:buSzPts val="2400"/>
            </a:pPr>
            <a:r>
              <a:rPr lang="en-US" b="1" dirty="0"/>
              <a:t>K-Fold cross validation</a:t>
            </a:r>
          </a:p>
          <a:p>
            <a:pPr lvl="0" indent="-431800">
              <a:buSzPts val="2400"/>
            </a:pPr>
            <a:r>
              <a:rPr lang="en-US" b="1" dirty="0"/>
              <a:t>Hyper parameter Tuning</a:t>
            </a:r>
          </a:p>
          <a:p>
            <a:pPr lvl="0" indent="-431800">
              <a:buSzPts val="2400"/>
            </a:pPr>
            <a:r>
              <a:rPr lang="en-US" b="1" dirty="0"/>
              <a:t>Clustering</a:t>
            </a:r>
          </a:p>
          <a:p>
            <a:pPr lvl="0" indent="-431800">
              <a:buSzPts val="2400"/>
            </a:pPr>
            <a:r>
              <a:rPr lang="en-US" b="1" dirty="0"/>
              <a:t>Model Deployment</a:t>
            </a:r>
          </a:p>
          <a:p>
            <a:pPr lvl="0" indent="-431800">
              <a:buSzPts val="2400"/>
            </a:pPr>
            <a:r>
              <a:rPr lang="en-US" b="1" dirty="0"/>
              <a:t>Challenges Faced</a:t>
            </a:r>
          </a:p>
          <a:p>
            <a:pPr lvl="0" indent="-431800">
              <a:buSzPts val="2400"/>
            </a:pPr>
            <a:r>
              <a:rPr lang="en-US" b="1" dirty="0"/>
              <a:t>Recommendations</a:t>
            </a:r>
          </a:p>
          <a:p>
            <a:pPr lvl="0" indent="-431800">
              <a:buSzPts val="2400"/>
            </a:pPr>
            <a:r>
              <a:rPr lang="en-US" b="1" dirty="0"/>
              <a:t>Conclusion</a:t>
            </a:r>
          </a:p>
          <a:p>
            <a:pPr lvl="0" indent="-431800">
              <a:buSzPts val="2400"/>
            </a:pPr>
            <a:endParaRPr lang="en-US" dirty="0"/>
          </a:p>
          <a:p>
            <a:pPr lvl="0" indent="-431800">
              <a:buSzPts val="2400"/>
            </a:pPr>
            <a:endParaRPr lang="en-US" dirty="0"/>
          </a:p>
          <a:p>
            <a:pPr lvl="0" indent="-431800">
              <a:buSzPts val="2400"/>
            </a:pPr>
            <a:endParaRPr lang="en-US" dirty="0"/>
          </a:p>
        </p:txBody>
      </p:sp>
    </p:spTree>
    <p:extLst>
      <p:ext uri="{BB962C8B-B14F-4D97-AF65-F5344CB8AC3E}">
        <p14:creationId xmlns:p14="http://schemas.microsoft.com/office/powerpoint/2010/main" val="29868019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38AB4-281D-EEAC-B1DE-88168B59F023}"/>
              </a:ext>
            </a:extLst>
          </p:cNvPr>
          <p:cNvSpPr>
            <a:spLocks noGrp="1"/>
          </p:cNvSpPr>
          <p:nvPr>
            <p:ph type="title"/>
          </p:nvPr>
        </p:nvSpPr>
        <p:spPr/>
        <p:txBody>
          <a:bodyPr/>
          <a:lstStyle/>
          <a:p>
            <a:pPr algn="ctr"/>
            <a:r>
              <a:rPr lang="en-IN" b="1" dirty="0"/>
              <a:t>INTRODUCTION</a:t>
            </a:r>
          </a:p>
        </p:txBody>
      </p:sp>
      <p:sp>
        <p:nvSpPr>
          <p:cNvPr id="3" name="Text Placeholder 2">
            <a:extLst>
              <a:ext uri="{FF2B5EF4-FFF2-40B4-BE49-F238E27FC236}">
                <a16:creationId xmlns:a16="http://schemas.microsoft.com/office/drawing/2014/main" id="{989C084F-2C41-9110-0271-53757EE67B21}"/>
              </a:ext>
            </a:extLst>
          </p:cNvPr>
          <p:cNvSpPr>
            <a:spLocks noGrp="1"/>
          </p:cNvSpPr>
          <p:nvPr>
            <p:ph type="body" idx="1"/>
          </p:nvPr>
        </p:nvSpPr>
        <p:spPr>
          <a:xfrm>
            <a:off x="70338" y="1825625"/>
            <a:ext cx="11867104" cy="4351338"/>
          </a:xfrm>
        </p:spPr>
        <p:txBody>
          <a:bodyPr>
            <a:normAutofit/>
          </a:bodyPr>
          <a:lstStyle/>
          <a:p>
            <a:r>
              <a:rPr lang="en-US" dirty="0"/>
              <a:t>Aircraft engines generate large amounts of sensor data during operation, and monitoring these sensors is essential for ensuring safety, reliability, and maintenance efficiency. Traditional maintenance methods often rely on fixed schedules, which may lead to unnecessary servicing or unexpected engine failures.</a:t>
            </a:r>
          </a:p>
          <a:p>
            <a:r>
              <a:rPr lang="en-US" dirty="0"/>
              <a:t>This project focuses on </a:t>
            </a:r>
            <a:r>
              <a:rPr lang="en-US"/>
              <a:t>developing a </a:t>
            </a:r>
            <a:r>
              <a:rPr lang="en-US" b="1"/>
              <a:t> </a:t>
            </a:r>
            <a:r>
              <a:rPr lang="en-US" b="1" dirty="0"/>
              <a:t>Predictive Maintenance System for Aircraft Engines</a:t>
            </a:r>
            <a:r>
              <a:rPr lang="en-US" dirty="0"/>
              <a:t> using machine learning techniques. The system analyzes multivariate sensor data collected from aircraft engines over multiple operational cycles to identify engine health conditions and degradation patterns.</a:t>
            </a:r>
            <a:endParaRPr lang="en-IN" dirty="0"/>
          </a:p>
        </p:txBody>
      </p:sp>
    </p:spTree>
    <p:extLst>
      <p:ext uri="{BB962C8B-B14F-4D97-AF65-F5344CB8AC3E}">
        <p14:creationId xmlns:p14="http://schemas.microsoft.com/office/powerpoint/2010/main" val="887401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90CA8-FD9F-B531-FC25-DB6A19898342}"/>
              </a:ext>
            </a:extLst>
          </p:cNvPr>
          <p:cNvSpPr>
            <a:spLocks noGrp="1"/>
          </p:cNvSpPr>
          <p:nvPr>
            <p:ph type="title"/>
          </p:nvPr>
        </p:nvSpPr>
        <p:spPr/>
        <p:txBody>
          <a:bodyPr/>
          <a:lstStyle/>
          <a:p>
            <a:endParaRPr lang="en-IN"/>
          </a:p>
        </p:txBody>
      </p:sp>
      <p:pic>
        <p:nvPicPr>
          <p:cNvPr id="4" name="Picture 3">
            <a:extLst>
              <a:ext uri="{FF2B5EF4-FFF2-40B4-BE49-F238E27FC236}">
                <a16:creationId xmlns:a16="http://schemas.microsoft.com/office/drawing/2014/main" id="{47EDAAFC-10A7-692B-CF14-764F2F60AAE8}"/>
              </a:ext>
            </a:extLst>
          </p:cNvPr>
          <p:cNvPicPr>
            <a:picLocks noChangeAspect="1"/>
          </p:cNvPicPr>
          <p:nvPr/>
        </p:nvPicPr>
        <p:blipFill>
          <a:blip r:embed="rId2"/>
          <a:stretch>
            <a:fillRect/>
          </a:stretch>
        </p:blipFill>
        <p:spPr>
          <a:xfrm>
            <a:off x="0" y="0"/>
            <a:ext cx="12192000" cy="6774058"/>
          </a:xfrm>
          <a:prstGeom prst="rect">
            <a:avLst/>
          </a:prstGeom>
        </p:spPr>
      </p:pic>
    </p:spTree>
    <p:extLst>
      <p:ext uri="{BB962C8B-B14F-4D97-AF65-F5344CB8AC3E}">
        <p14:creationId xmlns:p14="http://schemas.microsoft.com/office/powerpoint/2010/main" val="1376866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73B9F-09F2-EC12-366A-0A59D7CE5832}"/>
              </a:ext>
            </a:extLst>
          </p:cNvPr>
          <p:cNvSpPr>
            <a:spLocks noGrp="1"/>
          </p:cNvSpPr>
          <p:nvPr>
            <p:ph type="title"/>
          </p:nvPr>
        </p:nvSpPr>
        <p:spPr/>
        <p:txBody>
          <a:bodyPr/>
          <a:lstStyle/>
          <a:p>
            <a:pPr algn="ctr"/>
            <a:r>
              <a:rPr lang="en-IN" b="1" dirty="0"/>
              <a:t>BUSINESS PROBLEM</a:t>
            </a:r>
          </a:p>
        </p:txBody>
      </p:sp>
      <p:sp>
        <p:nvSpPr>
          <p:cNvPr id="3" name="Text Placeholder 2">
            <a:extLst>
              <a:ext uri="{FF2B5EF4-FFF2-40B4-BE49-F238E27FC236}">
                <a16:creationId xmlns:a16="http://schemas.microsoft.com/office/drawing/2014/main" id="{11130D22-6F40-5D9D-BF12-670462D674E3}"/>
              </a:ext>
            </a:extLst>
          </p:cNvPr>
          <p:cNvSpPr>
            <a:spLocks noGrp="1"/>
          </p:cNvSpPr>
          <p:nvPr>
            <p:ph type="body" idx="1"/>
          </p:nvPr>
        </p:nvSpPr>
        <p:spPr>
          <a:xfrm>
            <a:off x="100484" y="1825625"/>
            <a:ext cx="12091516" cy="4351338"/>
          </a:xfrm>
        </p:spPr>
        <p:txBody>
          <a:bodyPr>
            <a:normAutofit fontScale="92500" lnSpcReduction="10000"/>
          </a:bodyPr>
          <a:lstStyle/>
          <a:p>
            <a:r>
              <a:rPr lang="en-US" dirty="0"/>
              <a:t>Aircraft engines are critical and expensive components that operate under extreme conditions. Unexpected engine failures can lead to:</a:t>
            </a:r>
          </a:p>
          <a:p>
            <a:r>
              <a:rPr lang="en-US" dirty="0"/>
              <a:t>Flight delays </a:t>
            </a:r>
          </a:p>
          <a:p>
            <a:r>
              <a:rPr lang="en-US" dirty="0"/>
              <a:t>High maintenance costs </a:t>
            </a:r>
          </a:p>
          <a:p>
            <a:r>
              <a:rPr lang="en-US" dirty="0"/>
              <a:t>Operational downtime </a:t>
            </a:r>
          </a:p>
          <a:p>
            <a:r>
              <a:rPr lang="en-US" dirty="0"/>
              <a:t>Passenger safety risks </a:t>
            </a:r>
          </a:p>
          <a:p>
            <a:r>
              <a:rPr lang="en-US" dirty="0"/>
              <a:t>Financial losses for airlines</a:t>
            </a:r>
          </a:p>
          <a:p>
            <a:r>
              <a:rPr lang="en-US" dirty="0"/>
              <a:t>Modern aircraft engines generate continuous sensor readings during every operational cycle. However, airlines often struggle to convert this massive sensor data into actionable maintenance decisions.</a:t>
            </a:r>
          </a:p>
          <a:p>
            <a:endParaRPr lang="en-IN" dirty="0"/>
          </a:p>
        </p:txBody>
      </p:sp>
    </p:spTree>
    <p:extLst>
      <p:ext uri="{BB962C8B-B14F-4D97-AF65-F5344CB8AC3E}">
        <p14:creationId xmlns:p14="http://schemas.microsoft.com/office/powerpoint/2010/main" val="3444636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7BF693-537E-477A-3F0F-2DC834AB25A2}"/>
              </a:ext>
            </a:extLst>
          </p:cNvPr>
          <p:cNvSpPr>
            <a:spLocks noGrp="1"/>
          </p:cNvSpPr>
          <p:nvPr>
            <p:ph type="title"/>
          </p:nvPr>
        </p:nvSpPr>
        <p:spPr/>
        <p:txBody>
          <a:bodyPr/>
          <a:lstStyle/>
          <a:p>
            <a:pPr algn="ctr"/>
            <a:r>
              <a:rPr lang="en-IN" b="1" dirty="0"/>
              <a:t>OBJECTIVE </a:t>
            </a:r>
          </a:p>
        </p:txBody>
      </p:sp>
      <p:sp>
        <p:nvSpPr>
          <p:cNvPr id="3" name="Text Placeholder 2">
            <a:extLst>
              <a:ext uri="{FF2B5EF4-FFF2-40B4-BE49-F238E27FC236}">
                <a16:creationId xmlns:a16="http://schemas.microsoft.com/office/drawing/2014/main" id="{94B11CB6-B59E-97CC-EFA2-E241E5DDBADB}"/>
              </a:ext>
            </a:extLst>
          </p:cNvPr>
          <p:cNvSpPr>
            <a:spLocks noGrp="1"/>
          </p:cNvSpPr>
          <p:nvPr>
            <p:ph type="body" idx="1"/>
          </p:nvPr>
        </p:nvSpPr>
        <p:spPr>
          <a:xfrm>
            <a:off x="80387" y="1825625"/>
            <a:ext cx="12017828" cy="4351338"/>
          </a:xfrm>
        </p:spPr>
        <p:txBody>
          <a:bodyPr>
            <a:normAutofit/>
          </a:bodyPr>
          <a:lstStyle/>
          <a:p>
            <a:r>
              <a:rPr lang="en-US" dirty="0"/>
              <a:t>The objective of this project is to develop a </a:t>
            </a:r>
            <a:r>
              <a:rPr lang="en-US" b="1" dirty="0"/>
              <a:t> Predictive maintenance system</a:t>
            </a:r>
            <a:r>
              <a:rPr lang="en-US" dirty="0"/>
              <a:t> that can:</a:t>
            </a:r>
          </a:p>
          <a:p>
            <a:r>
              <a:rPr lang="en-US" dirty="0"/>
              <a:t>Monitor aircraft engine health continuously </a:t>
            </a:r>
          </a:p>
          <a:p>
            <a:r>
              <a:rPr lang="en-US" dirty="0"/>
              <a:t>Detect degradation patterns early </a:t>
            </a:r>
          </a:p>
          <a:p>
            <a:r>
              <a:rPr lang="en-US" dirty="0"/>
              <a:t>Identify critical engine conditions </a:t>
            </a:r>
          </a:p>
          <a:p>
            <a:r>
              <a:rPr lang="en-US" dirty="0"/>
              <a:t>Generate maintenance alerts automatically </a:t>
            </a:r>
          </a:p>
          <a:p>
            <a:r>
              <a:rPr lang="en-US" dirty="0"/>
              <a:t>Support condition-based maintenance decisions </a:t>
            </a:r>
          </a:p>
          <a:p>
            <a:endParaRPr lang="en-IN" dirty="0"/>
          </a:p>
        </p:txBody>
      </p:sp>
    </p:spTree>
    <p:extLst>
      <p:ext uri="{BB962C8B-B14F-4D97-AF65-F5344CB8AC3E}">
        <p14:creationId xmlns:p14="http://schemas.microsoft.com/office/powerpoint/2010/main" val="18810468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84ADAB-6FA0-E2E1-4D75-B80AA44C5067}"/>
              </a:ext>
            </a:extLst>
          </p:cNvPr>
          <p:cNvSpPr>
            <a:spLocks noGrp="1"/>
          </p:cNvSpPr>
          <p:nvPr>
            <p:ph type="title"/>
          </p:nvPr>
        </p:nvSpPr>
        <p:spPr/>
        <p:txBody>
          <a:bodyPr/>
          <a:lstStyle/>
          <a:p>
            <a:pPr algn="ctr"/>
            <a:r>
              <a:rPr lang="en-IN" b="1" dirty="0"/>
              <a:t>Data Understanding</a:t>
            </a:r>
          </a:p>
        </p:txBody>
      </p:sp>
      <p:pic>
        <p:nvPicPr>
          <p:cNvPr id="7" name="Picture 6">
            <a:extLst>
              <a:ext uri="{FF2B5EF4-FFF2-40B4-BE49-F238E27FC236}">
                <a16:creationId xmlns:a16="http://schemas.microsoft.com/office/drawing/2014/main" id="{7E6C9922-7AF2-A584-BCB8-1A890938C182}"/>
              </a:ext>
            </a:extLst>
          </p:cNvPr>
          <p:cNvPicPr>
            <a:picLocks noChangeAspect="1"/>
          </p:cNvPicPr>
          <p:nvPr/>
        </p:nvPicPr>
        <p:blipFill>
          <a:blip r:embed="rId2"/>
          <a:stretch>
            <a:fillRect/>
          </a:stretch>
        </p:blipFill>
        <p:spPr>
          <a:xfrm>
            <a:off x="705294" y="1642958"/>
            <a:ext cx="10515600" cy="2276149"/>
          </a:xfrm>
          <a:prstGeom prst="rect">
            <a:avLst/>
          </a:prstGeom>
        </p:spPr>
      </p:pic>
      <p:sp>
        <p:nvSpPr>
          <p:cNvPr id="3" name="TextBox 2">
            <a:extLst>
              <a:ext uri="{FF2B5EF4-FFF2-40B4-BE49-F238E27FC236}">
                <a16:creationId xmlns:a16="http://schemas.microsoft.com/office/drawing/2014/main" id="{97188EBF-9FB9-BA04-92FE-FC3BB8A4888D}"/>
              </a:ext>
            </a:extLst>
          </p:cNvPr>
          <p:cNvSpPr txBox="1"/>
          <p:nvPr/>
        </p:nvSpPr>
        <p:spPr>
          <a:xfrm>
            <a:off x="803265" y="4481565"/>
            <a:ext cx="10319658" cy="1785104"/>
          </a:xfrm>
          <a:prstGeom prst="rect">
            <a:avLst/>
          </a:prstGeom>
          <a:noFill/>
        </p:spPr>
        <p:txBody>
          <a:bodyPr wrap="square" rtlCol="0">
            <a:spAutoFit/>
          </a:bodyPr>
          <a:lstStyle/>
          <a:p>
            <a:r>
              <a:rPr lang="en-IN" sz="2400" dirty="0"/>
              <a:t>Id-Unique engine identifier</a:t>
            </a:r>
          </a:p>
          <a:p>
            <a:r>
              <a:rPr lang="en-IN" sz="2400" dirty="0"/>
              <a:t>Cycle-</a:t>
            </a:r>
            <a:r>
              <a:rPr lang="en-US" sz="2400" dirty="0"/>
              <a:t>Number of operational cycles completed by the engine</a:t>
            </a:r>
          </a:p>
          <a:p>
            <a:r>
              <a:rPr lang="en-US" sz="2400" dirty="0"/>
              <a:t>Setting-Operational settings under which the engine is running</a:t>
            </a:r>
          </a:p>
          <a:p>
            <a:r>
              <a:rPr lang="en-US" sz="2400" dirty="0"/>
              <a:t>S1-s21-Sensor readings collected from different engine components</a:t>
            </a:r>
            <a:endParaRPr lang="en-IN" sz="2400" dirty="0"/>
          </a:p>
          <a:p>
            <a:endParaRPr lang="en-IN" dirty="0"/>
          </a:p>
        </p:txBody>
      </p:sp>
    </p:spTree>
    <p:extLst>
      <p:ext uri="{BB962C8B-B14F-4D97-AF65-F5344CB8AC3E}">
        <p14:creationId xmlns:p14="http://schemas.microsoft.com/office/powerpoint/2010/main" val="2248901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7437B-386F-568A-BA94-A4FBF5DC62B8}"/>
              </a:ext>
            </a:extLst>
          </p:cNvPr>
          <p:cNvSpPr>
            <a:spLocks noGrp="1"/>
          </p:cNvSpPr>
          <p:nvPr>
            <p:ph type="title"/>
          </p:nvPr>
        </p:nvSpPr>
        <p:spPr/>
        <p:txBody>
          <a:bodyPr/>
          <a:lstStyle/>
          <a:p>
            <a:pPr algn="ctr"/>
            <a:r>
              <a:rPr lang="en-IN" b="1" dirty="0"/>
              <a:t>Data Preprocessing</a:t>
            </a:r>
          </a:p>
        </p:txBody>
      </p:sp>
      <p:sp>
        <p:nvSpPr>
          <p:cNvPr id="3" name="Text Placeholder 2">
            <a:extLst>
              <a:ext uri="{FF2B5EF4-FFF2-40B4-BE49-F238E27FC236}">
                <a16:creationId xmlns:a16="http://schemas.microsoft.com/office/drawing/2014/main" id="{8406E757-AA36-EE61-54B7-2BFA623EF640}"/>
              </a:ext>
            </a:extLst>
          </p:cNvPr>
          <p:cNvSpPr>
            <a:spLocks noGrp="1"/>
          </p:cNvSpPr>
          <p:nvPr>
            <p:ph type="body" idx="1"/>
          </p:nvPr>
        </p:nvSpPr>
        <p:spPr/>
        <p:txBody>
          <a:bodyPr>
            <a:normAutofit fontScale="92500"/>
          </a:bodyPr>
          <a:lstStyle/>
          <a:p>
            <a:r>
              <a:rPr lang="en-US" dirty="0"/>
              <a:t>The aircraft engine dataset was prepared for machine learning by selecting relevant sensor and operational features. </a:t>
            </a:r>
          </a:p>
          <a:p>
            <a:r>
              <a:rPr lang="en-US" dirty="0"/>
              <a:t>The dataset did not contain missing values or duplicate records, no data cleaning was required. </a:t>
            </a:r>
          </a:p>
          <a:p>
            <a:r>
              <a:rPr lang="en-US" dirty="0"/>
              <a:t>Numerical feature preprocessing was performed using </a:t>
            </a:r>
            <a:r>
              <a:rPr lang="en-US" dirty="0" err="1"/>
              <a:t>StandardScaler</a:t>
            </a:r>
            <a:r>
              <a:rPr lang="en-US" dirty="0"/>
              <a:t> to normalize the sensor values and </a:t>
            </a:r>
            <a:r>
              <a:rPr lang="en-US" dirty="0" err="1"/>
              <a:t>PowerTransformer</a:t>
            </a:r>
            <a:r>
              <a:rPr lang="en-US" dirty="0"/>
              <a:t> to reduce skewness and improve data distribution. </a:t>
            </a:r>
          </a:p>
          <a:p>
            <a:r>
              <a:rPr lang="en-US" dirty="0"/>
              <a:t>A preprocessing pipeline and </a:t>
            </a:r>
            <a:r>
              <a:rPr lang="en-US" dirty="0" err="1"/>
              <a:t>ColumnTransformer</a:t>
            </a:r>
            <a:r>
              <a:rPr lang="en-US" dirty="0"/>
              <a:t> were used to apply the transformations efficiently before training the machine learning models.</a:t>
            </a:r>
            <a:endParaRPr lang="en-IN" dirty="0"/>
          </a:p>
        </p:txBody>
      </p:sp>
    </p:spTree>
    <p:extLst>
      <p:ext uri="{BB962C8B-B14F-4D97-AF65-F5344CB8AC3E}">
        <p14:creationId xmlns:p14="http://schemas.microsoft.com/office/powerpoint/2010/main" val="2540956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8CD0A-0804-E4B7-A5D0-9C2D7CC97BA4}"/>
              </a:ext>
            </a:extLst>
          </p:cNvPr>
          <p:cNvSpPr>
            <a:spLocks noGrp="1"/>
          </p:cNvSpPr>
          <p:nvPr>
            <p:ph type="title"/>
          </p:nvPr>
        </p:nvSpPr>
        <p:spPr/>
        <p:txBody>
          <a:bodyPr/>
          <a:lstStyle/>
          <a:p>
            <a:pPr algn="ctr"/>
            <a:r>
              <a:rPr lang="en-IN" b="1" dirty="0"/>
              <a:t>Feature Engineering</a:t>
            </a:r>
          </a:p>
        </p:txBody>
      </p:sp>
      <p:sp>
        <p:nvSpPr>
          <p:cNvPr id="3" name="Text Placeholder 2">
            <a:extLst>
              <a:ext uri="{FF2B5EF4-FFF2-40B4-BE49-F238E27FC236}">
                <a16:creationId xmlns:a16="http://schemas.microsoft.com/office/drawing/2014/main" id="{67E2CA90-A8D1-BAFE-E780-22CC426DE569}"/>
              </a:ext>
            </a:extLst>
          </p:cNvPr>
          <p:cNvSpPr>
            <a:spLocks noGrp="1"/>
          </p:cNvSpPr>
          <p:nvPr>
            <p:ph type="body" idx="1"/>
          </p:nvPr>
        </p:nvSpPr>
        <p:spPr/>
        <p:txBody>
          <a:bodyPr>
            <a:normAutofit fontScale="92500" lnSpcReduction="20000"/>
          </a:bodyPr>
          <a:lstStyle/>
          <a:p>
            <a:pPr marL="114300" indent="0">
              <a:buNone/>
            </a:pPr>
            <a:r>
              <a:rPr lang="en-US" dirty="0"/>
              <a:t>Feature Engineering was performed to create meaningful features that improve predictive maintenance analysis and engine health monitoring.</a:t>
            </a:r>
          </a:p>
          <a:p>
            <a:r>
              <a:rPr lang="en-US" b="1" dirty="0"/>
              <a:t>Remaining Useful Life (RUL):</a:t>
            </a:r>
            <a:br>
              <a:rPr lang="en-US" dirty="0"/>
            </a:br>
            <a:r>
              <a:rPr lang="en-US" dirty="0"/>
              <a:t>Calculated by subtracting the current engine cycle from the maximum cycle of each engine to estimate the remaining operational life. </a:t>
            </a:r>
          </a:p>
          <a:p>
            <a:r>
              <a:rPr lang="en-US" b="1" dirty="0"/>
              <a:t>Health State:</a:t>
            </a:r>
            <a:br>
              <a:rPr lang="en-US" dirty="0"/>
            </a:br>
            <a:r>
              <a:rPr lang="en-US" dirty="0"/>
              <a:t>Generated using </a:t>
            </a:r>
            <a:r>
              <a:rPr lang="en-US" dirty="0" err="1"/>
              <a:t>KMeans</a:t>
            </a:r>
            <a:r>
              <a:rPr lang="en-US" dirty="0"/>
              <a:t> clustering to classify engines into Healthy, Warning, and Critical conditions based on sensor behavior. </a:t>
            </a:r>
          </a:p>
          <a:p>
            <a:r>
              <a:rPr lang="en-US" b="1" dirty="0"/>
              <a:t>Alert Feature:</a:t>
            </a:r>
            <a:br>
              <a:rPr lang="en-US" dirty="0"/>
            </a:br>
            <a:r>
              <a:rPr lang="en-US" dirty="0"/>
              <a:t>Created based on the predicted health state to generate maintenance recommendations such as Normal Operation, Inspection Required, and Immediate Maintenance. </a:t>
            </a:r>
          </a:p>
          <a:p>
            <a:endParaRPr lang="en-IN" dirty="0"/>
          </a:p>
        </p:txBody>
      </p:sp>
    </p:spTree>
    <p:extLst>
      <p:ext uri="{BB962C8B-B14F-4D97-AF65-F5344CB8AC3E}">
        <p14:creationId xmlns:p14="http://schemas.microsoft.com/office/powerpoint/2010/main" val="19067744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0D04C-DD09-8836-F14D-FB4F3C491F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36C7EF-C5EB-3291-9C93-375C0ECD31D9}"/>
              </a:ext>
            </a:extLst>
          </p:cNvPr>
          <p:cNvSpPr>
            <a:spLocks noGrp="1"/>
          </p:cNvSpPr>
          <p:nvPr>
            <p:ph type="title"/>
          </p:nvPr>
        </p:nvSpPr>
        <p:spPr/>
        <p:txBody>
          <a:bodyPr/>
          <a:lstStyle/>
          <a:p>
            <a:pPr algn="ctr"/>
            <a:r>
              <a:rPr lang="en-IN" b="1" dirty="0"/>
              <a:t>MODEL BUILDING</a:t>
            </a:r>
          </a:p>
        </p:txBody>
      </p:sp>
      <p:sp>
        <p:nvSpPr>
          <p:cNvPr id="3" name="Text Placeholder 2">
            <a:extLst>
              <a:ext uri="{FF2B5EF4-FFF2-40B4-BE49-F238E27FC236}">
                <a16:creationId xmlns:a16="http://schemas.microsoft.com/office/drawing/2014/main" id="{BCE0D354-47EF-B8FE-CD61-493BB3B98AD3}"/>
              </a:ext>
            </a:extLst>
          </p:cNvPr>
          <p:cNvSpPr>
            <a:spLocks noGrp="1"/>
          </p:cNvSpPr>
          <p:nvPr>
            <p:ph type="body" idx="1"/>
          </p:nvPr>
        </p:nvSpPr>
        <p:spPr>
          <a:xfrm>
            <a:off x="100484" y="1825625"/>
            <a:ext cx="11857054" cy="4351338"/>
          </a:xfrm>
        </p:spPr>
        <p:txBody>
          <a:bodyPr>
            <a:normAutofit fontScale="92500" lnSpcReduction="10000"/>
          </a:bodyPr>
          <a:lstStyle/>
          <a:p>
            <a:r>
              <a:rPr lang="en-US" dirty="0"/>
              <a:t>The model building process started by creating the feature matrix (X) and target variable (y), where the target was the Remaining Useful Life (RUL) of the aircraft engine. The dataset was divided into training and testing sets for model evaluation. A preprocessing pipeline was developed using </a:t>
            </a:r>
            <a:r>
              <a:rPr lang="en-US" dirty="0" err="1"/>
              <a:t>StandardScaler</a:t>
            </a:r>
            <a:r>
              <a:rPr lang="en-US" dirty="0"/>
              <a:t>, </a:t>
            </a:r>
            <a:r>
              <a:rPr lang="en-US" dirty="0" err="1"/>
              <a:t>PowerTransformer</a:t>
            </a:r>
            <a:r>
              <a:rPr lang="en-US" dirty="0"/>
              <a:t>, and </a:t>
            </a:r>
            <a:r>
              <a:rPr lang="en-US" dirty="0" err="1"/>
              <a:t>ColumnTransformer</a:t>
            </a:r>
            <a:r>
              <a:rPr lang="en-US" dirty="0"/>
              <a:t> to normalize and transform the numerical sensor features.</a:t>
            </a:r>
          </a:p>
          <a:p>
            <a:pPr marL="114300" indent="0">
              <a:buNone/>
            </a:pPr>
            <a:r>
              <a:rPr lang="en-US" dirty="0"/>
              <a:t> Multiple machine learning regression models such as</a:t>
            </a:r>
          </a:p>
          <a:p>
            <a:r>
              <a:rPr lang="en-US" dirty="0"/>
              <a:t> Linear Regression,</a:t>
            </a:r>
          </a:p>
          <a:p>
            <a:r>
              <a:rPr lang="en-US" dirty="0"/>
              <a:t>Random Forest Regressor, </a:t>
            </a:r>
          </a:p>
          <a:p>
            <a:r>
              <a:rPr lang="en-US" dirty="0"/>
              <a:t>Support Vector Regressor (SVR), </a:t>
            </a:r>
          </a:p>
          <a:p>
            <a:r>
              <a:rPr lang="en-US" dirty="0" err="1"/>
              <a:t>XGBoost</a:t>
            </a:r>
            <a:r>
              <a:rPr lang="en-US" dirty="0"/>
              <a:t> Regressor</a:t>
            </a:r>
            <a:endParaRPr lang="en-IN" dirty="0"/>
          </a:p>
        </p:txBody>
      </p:sp>
    </p:spTree>
    <p:extLst>
      <p:ext uri="{BB962C8B-B14F-4D97-AF65-F5344CB8AC3E}">
        <p14:creationId xmlns:p14="http://schemas.microsoft.com/office/powerpoint/2010/main" val="963148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A297C-5FED-7C2B-D3D4-79BA4B1CE65A}"/>
              </a:ext>
            </a:extLst>
          </p:cNvPr>
          <p:cNvSpPr>
            <a:spLocks noGrp="1"/>
          </p:cNvSpPr>
          <p:nvPr>
            <p:ph type="title"/>
          </p:nvPr>
        </p:nvSpPr>
        <p:spPr/>
        <p:txBody>
          <a:bodyPr/>
          <a:lstStyle/>
          <a:p>
            <a:pPr algn="ctr"/>
            <a:r>
              <a:rPr lang="en-IN" b="1" dirty="0"/>
              <a:t>Model Evaluation</a:t>
            </a:r>
          </a:p>
        </p:txBody>
      </p:sp>
      <p:sp>
        <p:nvSpPr>
          <p:cNvPr id="3" name="Text Placeholder 2">
            <a:extLst>
              <a:ext uri="{FF2B5EF4-FFF2-40B4-BE49-F238E27FC236}">
                <a16:creationId xmlns:a16="http://schemas.microsoft.com/office/drawing/2014/main" id="{6C5CD755-AFA6-1CE4-75A8-EDE4263D0648}"/>
              </a:ext>
            </a:extLst>
          </p:cNvPr>
          <p:cNvSpPr>
            <a:spLocks noGrp="1"/>
          </p:cNvSpPr>
          <p:nvPr>
            <p:ph type="body" idx="1"/>
          </p:nvPr>
        </p:nvSpPr>
        <p:spPr/>
        <p:txBody>
          <a:bodyPr>
            <a:normAutofit fontScale="92500"/>
          </a:bodyPr>
          <a:lstStyle/>
          <a:p>
            <a:r>
              <a:rPr lang="en-US" dirty="0"/>
              <a:t>Model Evaluation is the process of assessing the performance of Machine Learning models to determine how accurately they predict the Remaining Useful Life (RUL) and health condition of aircraft engines. It helps in comparing different regression models and selecting the most accurate and reliable model for predictive maintenance.</a:t>
            </a:r>
          </a:p>
          <a:p>
            <a:r>
              <a:rPr lang="en-US" dirty="0"/>
              <a:t>For this predictive maintenance problem, the following evaluation metrics were used:</a:t>
            </a:r>
          </a:p>
          <a:p>
            <a:r>
              <a:rPr lang="en-US" dirty="0"/>
              <a:t>R² Score </a:t>
            </a:r>
          </a:p>
          <a:p>
            <a:r>
              <a:rPr lang="en-US" dirty="0"/>
              <a:t>Mean Squared Error (MSE) </a:t>
            </a:r>
          </a:p>
          <a:p>
            <a:r>
              <a:rPr lang="en-US" dirty="0"/>
              <a:t>Mean Absolute Error (MAE) </a:t>
            </a:r>
          </a:p>
          <a:p>
            <a:pPr marL="114300" indent="0">
              <a:buNone/>
            </a:pPr>
            <a:endParaRPr lang="en-IN" dirty="0"/>
          </a:p>
        </p:txBody>
      </p:sp>
    </p:spTree>
    <p:extLst>
      <p:ext uri="{BB962C8B-B14F-4D97-AF65-F5344CB8AC3E}">
        <p14:creationId xmlns:p14="http://schemas.microsoft.com/office/powerpoint/2010/main" val="931523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314D7DB-7542-9350-68E2-8011F09C9BDA}"/>
              </a:ext>
            </a:extLst>
          </p:cNvPr>
          <p:cNvSpPr>
            <a:spLocks noGrp="1"/>
          </p:cNvSpPr>
          <p:nvPr>
            <p:ph type="title"/>
          </p:nvPr>
        </p:nvSpPr>
        <p:spPr/>
        <p:txBody>
          <a:bodyPr/>
          <a:lstStyle/>
          <a:p>
            <a:pPr algn="ctr"/>
            <a:r>
              <a:rPr lang="en-IN" b="1" dirty="0"/>
              <a:t>MODEL PERFORMANCE COMPARISION</a:t>
            </a:r>
          </a:p>
        </p:txBody>
      </p:sp>
      <p:graphicFrame>
        <p:nvGraphicFramePr>
          <p:cNvPr id="4" name="Table 3">
            <a:extLst>
              <a:ext uri="{FF2B5EF4-FFF2-40B4-BE49-F238E27FC236}">
                <a16:creationId xmlns:a16="http://schemas.microsoft.com/office/drawing/2014/main" id="{41D62F64-9CDD-F056-7CBD-713DD37D7B96}"/>
              </a:ext>
            </a:extLst>
          </p:cNvPr>
          <p:cNvGraphicFramePr>
            <a:graphicFrameLocks noGrp="1"/>
          </p:cNvGraphicFramePr>
          <p:nvPr>
            <p:extLst>
              <p:ext uri="{D42A27DB-BD31-4B8C-83A1-F6EECF244321}">
                <p14:modId xmlns:p14="http://schemas.microsoft.com/office/powerpoint/2010/main" val="2576309971"/>
              </p:ext>
            </p:extLst>
          </p:nvPr>
        </p:nvGraphicFramePr>
        <p:xfrm>
          <a:off x="1153326" y="1690688"/>
          <a:ext cx="9885348" cy="4523171"/>
        </p:xfrm>
        <a:graphic>
          <a:graphicData uri="http://schemas.openxmlformats.org/drawingml/2006/table">
            <a:tbl>
              <a:tblPr firstRow="1" bandRow="1">
                <a:tableStyleId>{5C22544A-7EE6-4342-B048-85BDC9FD1C3A}</a:tableStyleId>
              </a:tblPr>
              <a:tblGrid>
                <a:gridCol w="2471337">
                  <a:extLst>
                    <a:ext uri="{9D8B030D-6E8A-4147-A177-3AD203B41FA5}">
                      <a16:colId xmlns:a16="http://schemas.microsoft.com/office/drawing/2014/main" val="857439455"/>
                    </a:ext>
                  </a:extLst>
                </a:gridCol>
                <a:gridCol w="2471337">
                  <a:extLst>
                    <a:ext uri="{9D8B030D-6E8A-4147-A177-3AD203B41FA5}">
                      <a16:colId xmlns:a16="http://schemas.microsoft.com/office/drawing/2014/main" val="340172338"/>
                    </a:ext>
                  </a:extLst>
                </a:gridCol>
                <a:gridCol w="2471337">
                  <a:extLst>
                    <a:ext uri="{9D8B030D-6E8A-4147-A177-3AD203B41FA5}">
                      <a16:colId xmlns:a16="http://schemas.microsoft.com/office/drawing/2014/main" val="3790515778"/>
                    </a:ext>
                  </a:extLst>
                </a:gridCol>
                <a:gridCol w="2471337">
                  <a:extLst>
                    <a:ext uri="{9D8B030D-6E8A-4147-A177-3AD203B41FA5}">
                      <a16:colId xmlns:a16="http://schemas.microsoft.com/office/drawing/2014/main" val="3923553666"/>
                    </a:ext>
                  </a:extLst>
                </a:gridCol>
              </a:tblGrid>
              <a:tr h="662729">
                <a:tc>
                  <a:txBody>
                    <a:bodyPr/>
                    <a:lstStyle/>
                    <a:p>
                      <a:r>
                        <a:rPr lang="en-IN" dirty="0"/>
                        <a:t>MODEL</a:t>
                      </a:r>
                    </a:p>
                  </a:txBody>
                  <a:tcPr/>
                </a:tc>
                <a:tc>
                  <a:txBody>
                    <a:bodyPr/>
                    <a:lstStyle/>
                    <a:p>
                      <a:r>
                        <a:rPr lang="en-IN" dirty="0"/>
                        <a:t>R2 SCORE</a:t>
                      </a:r>
                    </a:p>
                  </a:txBody>
                  <a:tcPr/>
                </a:tc>
                <a:tc>
                  <a:txBody>
                    <a:bodyPr/>
                    <a:lstStyle/>
                    <a:p>
                      <a:r>
                        <a:rPr lang="en-IN" dirty="0"/>
                        <a:t>MSE</a:t>
                      </a:r>
                    </a:p>
                  </a:txBody>
                  <a:tcPr/>
                </a:tc>
                <a:tc>
                  <a:txBody>
                    <a:bodyPr/>
                    <a:lstStyle/>
                    <a:p>
                      <a:r>
                        <a:rPr lang="en-IN" dirty="0"/>
                        <a:t>MAE</a:t>
                      </a:r>
                    </a:p>
                  </a:txBody>
                  <a:tcPr/>
                </a:tc>
                <a:extLst>
                  <a:ext uri="{0D108BD9-81ED-4DB2-BD59-A6C34878D82A}">
                    <a16:rowId xmlns:a16="http://schemas.microsoft.com/office/drawing/2014/main" val="3117768913"/>
                  </a:ext>
                </a:extLst>
              </a:tr>
              <a:tr h="546797">
                <a:tc>
                  <a:txBody>
                    <a:bodyPr/>
                    <a:lstStyle/>
                    <a:p>
                      <a:r>
                        <a:rPr lang="en-IN" dirty="0"/>
                        <a:t>Linear Regression</a:t>
                      </a:r>
                    </a:p>
                  </a:txBody>
                  <a:tcPr/>
                </a:tc>
                <a:tc>
                  <a:txBody>
                    <a:bodyPr/>
                    <a:lstStyle/>
                    <a:p>
                      <a:pPr>
                        <a:buNone/>
                      </a:pPr>
                      <a:r>
                        <a:rPr lang="en-IN" dirty="0"/>
                        <a:t>0.76</a:t>
                      </a:r>
                    </a:p>
                  </a:txBody>
                  <a:tcPr anchor="ctr"/>
                </a:tc>
                <a:tc>
                  <a:txBody>
                    <a:bodyPr/>
                    <a:lstStyle/>
                    <a:p>
                      <a:r>
                        <a:rPr lang="en-IN" dirty="0"/>
                        <a:t>40.78</a:t>
                      </a:r>
                    </a:p>
                  </a:txBody>
                  <a:tcPr/>
                </a:tc>
                <a:tc>
                  <a:txBody>
                    <a:bodyPr/>
                    <a:lstStyle/>
                    <a:p>
                      <a:r>
                        <a:rPr lang="en-IN" dirty="0"/>
                        <a:t>4.89</a:t>
                      </a:r>
                    </a:p>
                  </a:txBody>
                  <a:tcPr/>
                </a:tc>
                <a:extLst>
                  <a:ext uri="{0D108BD9-81ED-4DB2-BD59-A6C34878D82A}">
                    <a16:rowId xmlns:a16="http://schemas.microsoft.com/office/drawing/2014/main" val="2927482153"/>
                  </a:ext>
                </a:extLst>
              </a:tr>
              <a:tr h="662729">
                <a:tc>
                  <a:txBody>
                    <a:bodyPr/>
                    <a:lstStyle/>
                    <a:p>
                      <a:r>
                        <a:rPr lang="en-IN" dirty="0"/>
                        <a:t>Decision Tree</a:t>
                      </a:r>
                    </a:p>
                  </a:txBody>
                  <a:tcPr/>
                </a:tc>
                <a:tc>
                  <a:txBody>
                    <a:bodyPr/>
                    <a:lstStyle/>
                    <a:p>
                      <a:r>
                        <a:rPr lang="en-IN" dirty="0"/>
                        <a:t>0.6343</a:t>
                      </a:r>
                    </a:p>
                  </a:txBody>
                  <a:tcPr/>
                </a:tc>
                <a:tc>
                  <a:txBody>
                    <a:bodyPr/>
                    <a:lstStyle/>
                    <a:p>
                      <a:r>
                        <a:rPr lang="en-IN" dirty="0"/>
                        <a:t>32.51</a:t>
                      </a:r>
                    </a:p>
                  </a:txBody>
                  <a:tcPr/>
                </a:tc>
                <a:tc>
                  <a:txBody>
                    <a:bodyPr/>
                    <a:lstStyle/>
                    <a:p>
                      <a:r>
                        <a:rPr lang="en-IN" dirty="0"/>
                        <a:t>4.31</a:t>
                      </a:r>
                    </a:p>
                  </a:txBody>
                  <a:tcPr/>
                </a:tc>
                <a:extLst>
                  <a:ext uri="{0D108BD9-81ED-4DB2-BD59-A6C34878D82A}">
                    <a16:rowId xmlns:a16="http://schemas.microsoft.com/office/drawing/2014/main" val="825338259"/>
                  </a:ext>
                </a:extLst>
              </a:tr>
              <a:tr h="662729">
                <a:tc>
                  <a:txBody>
                    <a:bodyPr/>
                    <a:lstStyle/>
                    <a:p>
                      <a:r>
                        <a:rPr lang="en-IN" dirty="0"/>
                        <a:t>KNN Regressor</a:t>
                      </a:r>
                    </a:p>
                  </a:txBody>
                  <a:tcPr/>
                </a:tc>
                <a:tc>
                  <a:txBody>
                    <a:bodyPr/>
                    <a:lstStyle/>
                    <a:p>
                      <a:r>
                        <a:rPr lang="en-IN" dirty="0"/>
                        <a:t>0.6265</a:t>
                      </a:r>
                    </a:p>
                  </a:txBody>
                  <a:tcPr/>
                </a:tc>
                <a:tc>
                  <a:txBody>
                    <a:bodyPr/>
                    <a:lstStyle/>
                    <a:p>
                      <a:r>
                        <a:rPr lang="en-IN" dirty="0"/>
                        <a:t>33.21</a:t>
                      </a:r>
                    </a:p>
                  </a:txBody>
                  <a:tcPr/>
                </a:tc>
                <a:tc>
                  <a:txBody>
                    <a:bodyPr/>
                    <a:lstStyle/>
                    <a:p>
                      <a:r>
                        <a:rPr lang="en-IN" dirty="0"/>
                        <a:t>4.51</a:t>
                      </a:r>
                    </a:p>
                  </a:txBody>
                  <a:tcPr/>
                </a:tc>
                <a:extLst>
                  <a:ext uri="{0D108BD9-81ED-4DB2-BD59-A6C34878D82A}">
                    <a16:rowId xmlns:a16="http://schemas.microsoft.com/office/drawing/2014/main" val="949544026"/>
                  </a:ext>
                </a:extLst>
              </a:tr>
              <a:tr h="662729">
                <a:tc>
                  <a:txBody>
                    <a:bodyPr/>
                    <a:lstStyle/>
                    <a:p>
                      <a:r>
                        <a:rPr lang="en-IN" dirty="0"/>
                        <a:t>SVR</a:t>
                      </a:r>
                    </a:p>
                  </a:txBody>
                  <a:tcPr/>
                </a:tc>
                <a:tc>
                  <a:txBody>
                    <a:bodyPr/>
                    <a:lstStyle/>
                    <a:p>
                      <a:r>
                        <a:rPr lang="en-IN" dirty="0"/>
                        <a:t>0.83</a:t>
                      </a:r>
                    </a:p>
                  </a:txBody>
                  <a:tcPr/>
                </a:tc>
                <a:tc>
                  <a:txBody>
                    <a:bodyPr/>
                    <a:lstStyle/>
                    <a:p>
                      <a:r>
                        <a:rPr lang="en-IN" dirty="0"/>
                        <a:t>25.72</a:t>
                      </a:r>
                    </a:p>
                  </a:txBody>
                  <a:tcPr/>
                </a:tc>
                <a:tc>
                  <a:txBody>
                    <a:bodyPr/>
                    <a:lstStyle/>
                    <a:p>
                      <a:r>
                        <a:rPr lang="en-IN" dirty="0"/>
                        <a:t>4.00</a:t>
                      </a:r>
                    </a:p>
                  </a:txBody>
                  <a:tcPr/>
                </a:tc>
                <a:extLst>
                  <a:ext uri="{0D108BD9-81ED-4DB2-BD59-A6C34878D82A}">
                    <a16:rowId xmlns:a16="http://schemas.microsoft.com/office/drawing/2014/main" val="3655864363"/>
                  </a:ext>
                </a:extLst>
              </a:tr>
              <a:tr h="662729">
                <a:tc>
                  <a:txBody>
                    <a:bodyPr/>
                    <a:lstStyle/>
                    <a:p>
                      <a:r>
                        <a:rPr lang="en-IN" dirty="0"/>
                        <a:t>Random Forest</a:t>
                      </a:r>
                    </a:p>
                  </a:txBody>
                  <a:tcPr/>
                </a:tc>
                <a:tc>
                  <a:txBody>
                    <a:bodyPr/>
                    <a:lstStyle/>
                    <a:p>
                      <a:r>
                        <a:rPr lang="en-IN" dirty="0"/>
                        <a:t>0.83</a:t>
                      </a:r>
                    </a:p>
                  </a:txBody>
                  <a:tcPr/>
                </a:tc>
                <a:tc>
                  <a:txBody>
                    <a:bodyPr/>
                    <a:lstStyle/>
                    <a:p>
                      <a:r>
                        <a:rPr lang="en-IN" dirty="0"/>
                        <a:t>17.10</a:t>
                      </a:r>
                    </a:p>
                  </a:txBody>
                  <a:tcPr/>
                </a:tc>
                <a:tc>
                  <a:txBody>
                    <a:bodyPr/>
                    <a:lstStyle/>
                    <a:p>
                      <a:r>
                        <a:rPr lang="en-IN" dirty="0"/>
                        <a:t>3.3</a:t>
                      </a:r>
                    </a:p>
                  </a:txBody>
                  <a:tcPr/>
                </a:tc>
                <a:extLst>
                  <a:ext uri="{0D108BD9-81ED-4DB2-BD59-A6C34878D82A}">
                    <a16:rowId xmlns:a16="http://schemas.microsoft.com/office/drawing/2014/main" val="509729697"/>
                  </a:ext>
                </a:extLst>
              </a:tr>
              <a:tr h="662729">
                <a:tc>
                  <a:txBody>
                    <a:bodyPr/>
                    <a:lstStyle/>
                    <a:p>
                      <a:r>
                        <a:rPr lang="en-IN" dirty="0" err="1"/>
                        <a:t>XGBoost</a:t>
                      </a:r>
                      <a:endParaRPr lang="en-IN" dirty="0"/>
                    </a:p>
                  </a:txBody>
                  <a:tcPr/>
                </a:tc>
                <a:tc>
                  <a:txBody>
                    <a:bodyPr/>
                    <a:lstStyle/>
                    <a:p>
                      <a:r>
                        <a:rPr lang="en-IN" dirty="0"/>
                        <a:t>0.84</a:t>
                      </a:r>
                    </a:p>
                  </a:txBody>
                  <a:tcPr/>
                </a:tc>
                <a:tc>
                  <a:txBody>
                    <a:bodyPr/>
                    <a:lstStyle/>
                    <a:p>
                      <a:r>
                        <a:rPr lang="en-IN" dirty="0"/>
                        <a:t>16.46</a:t>
                      </a:r>
                    </a:p>
                  </a:txBody>
                  <a:tcPr/>
                </a:tc>
                <a:tc>
                  <a:txBody>
                    <a:bodyPr/>
                    <a:lstStyle/>
                    <a:p>
                      <a:r>
                        <a:rPr lang="en-IN" dirty="0"/>
                        <a:t>3.21</a:t>
                      </a:r>
                    </a:p>
                  </a:txBody>
                  <a:tcPr/>
                </a:tc>
                <a:extLst>
                  <a:ext uri="{0D108BD9-81ED-4DB2-BD59-A6C34878D82A}">
                    <a16:rowId xmlns:a16="http://schemas.microsoft.com/office/drawing/2014/main" val="1161619203"/>
                  </a:ext>
                </a:extLst>
              </a:tr>
            </a:tbl>
          </a:graphicData>
        </a:graphic>
      </p:graphicFrame>
    </p:spTree>
    <p:extLst>
      <p:ext uri="{BB962C8B-B14F-4D97-AF65-F5344CB8AC3E}">
        <p14:creationId xmlns:p14="http://schemas.microsoft.com/office/powerpoint/2010/main" val="13425711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6FB4A-59E0-FFF5-5D50-924B09D17EF3}"/>
              </a:ext>
            </a:extLst>
          </p:cNvPr>
          <p:cNvSpPr>
            <a:spLocks noGrp="1"/>
          </p:cNvSpPr>
          <p:nvPr>
            <p:ph type="title"/>
          </p:nvPr>
        </p:nvSpPr>
        <p:spPr/>
        <p:txBody>
          <a:bodyPr/>
          <a:lstStyle/>
          <a:p>
            <a:r>
              <a:rPr lang="en-IN" dirty="0"/>
              <a:t>Checking Overfit Issue</a:t>
            </a:r>
          </a:p>
        </p:txBody>
      </p:sp>
      <p:pic>
        <p:nvPicPr>
          <p:cNvPr id="5" name="Picture 4">
            <a:extLst>
              <a:ext uri="{FF2B5EF4-FFF2-40B4-BE49-F238E27FC236}">
                <a16:creationId xmlns:a16="http://schemas.microsoft.com/office/drawing/2014/main" id="{F7E598ED-1FD7-121D-0753-25A471E8449A}"/>
              </a:ext>
            </a:extLst>
          </p:cNvPr>
          <p:cNvPicPr>
            <a:picLocks noChangeAspect="1"/>
          </p:cNvPicPr>
          <p:nvPr/>
        </p:nvPicPr>
        <p:blipFill>
          <a:blip r:embed="rId2"/>
          <a:stretch>
            <a:fillRect/>
          </a:stretch>
        </p:blipFill>
        <p:spPr>
          <a:xfrm>
            <a:off x="3235569" y="1884948"/>
            <a:ext cx="5394333" cy="2355457"/>
          </a:xfrm>
          <a:prstGeom prst="rect">
            <a:avLst/>
          </a:prstGeom>
        </p:spPr>
      </p:pic>
    </p:spTree>
    <p:extLst>
      <p:ext uri="{BB962C8B-B14F-4D97-AF65-F5344CB8AC3E}">
        <p14:creationId xmlns:p14="http://schemas.microsoft.com/office/powerpoint/2010/main" val="22991304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6B538A-AFCD-0786-E00E-41E019AC129F}"/>
              </a:ext>
            </a:extLst>
          </p:cNvPr>
          <p:cNvSpPr>
            <a:spLocks noGrp="1"/>
          </p:cNvSpPr>
          <p:nvPr>
            <p:ph type="title"/>
          </p:nvPr>
        </p:nvSpPr>
        <p:spPr/>
        <p:txBody>
          <a:bodyPr/>
          <a:lstStyle/>
          <a:p>
            <a:pPr algn="ctr"/>
            <a:r>
              <a:rPr lang="en-IN" b="1" dirty="0"/>
              <a:t>Cross Validation</a:t>
            </a:r>
          </a:p>
        </p:txBody>
      </p:sp>
      <p:sp>
        <p:nvSpPr>
          <p:cNvPr id="3" name="Text Placeholder 2">
            <a:extLst>
              <a:ext uri="{FF2B5EF4-FFF2-40B4-BE49-F238E27FC236}">
                <a16:creationId xmlns:a16="http://schemas.microsoft.com/office/drawing/2014/main" id="{8CE75F11-0D66-6AFE-AB2C-E7C7E53B3132}"/>
              </a:ext>
            </a:extLst>
          </p:cNvPr>
          <p:cNvSpPr>
            <a:spLocks noGrp="1"/>
          </p:cNvSpPr>
          <p:nvPr>
            <p:ph type="body" idx="1"/>
          </p:nvPr>
        </p:nvSpPr>
        <p:spPr/>
        <p:txBody>
          <a:bodyPr/>
          <a:lstStyle/>
          <a:p>
            <a:r>
              <a:rPr lang="en-US" dirty="0"/>
              <a:t>Cross Validation is a technique used to evaluate the stability and reliability of a machine learning model by testing it on different subsets of the dataset. In this project, K-Fold Cross Validation was applied with 5 splits to improve model generalization and reduce overfitting. The average cross-validation score obtained for the </a:t>
            </a:r>
            <a:r>
              <a:rPr lang="en-US" dirty="0" err="1"/>
              <a:t>XGBoost</a:t>
            </a:r>
            <a:r>
              <a:rPr lang="en-US" dirty="0"/>
              <a:t> model was approximately 0.85, indicating good predictive performance and model stability.</a:t>
            </a:r>
            <a:endParaRPr lang="en-IN" dirty="0"/>
          </a:p>
        </p:txBody>
      </p:sp>
      <p:pic>
        <p:nvPicPr>
          <p:cNvPr id="5" name="Picture 4">
            <a:extLst>
              <a:ext uri="{FF2B5EF4-FFF2-40B4-BE49-F238E27FC236}">
                <a16:creationId xmlns:a16="http://schemas.microsoft.com/office/drawing/2014/main" id="{2333BC57-C83C-049A-F3B8-EA2A71DFEAE2}"/>
              </a:ext>
            </a:extLst>
          </p:cNvPr>
          <p:cNvPicPr>
            <a:picLocks noChangeAspect="1"/>
          </p:cNvPicPr>
          <p:nvPr/>
        </p:nvPicPr>
        <p:blipFill>
          <a:blip r:embed="rId2"/>
          <a:stretch>
            <a:fillRect/>
          </a:stretch>
        </p:blipFill>
        <p:spPr>
          <a:xfrm>
            <a:off x="1751513" y="5012556"/>
            <a:ext cx="4217208" cy="510584"/>
          </a:xfrm>
          <a:prstGeom prst="rect">
            <a:avLst/>
          </a:prstGeom>
        </p:spPr>
      </p:pic>
    </p:spTree>
    <p:extLst>
      <p:ext uri="{BB962C8B-B14F-4D97-AF65-F5344CB8AC3E}">
        <p14:creationId xmlns:p14="http://schemas.microsoft.com/office/powerpoint/2010/main" val="40128626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A881C-2656-8086-D4EF-07D1057A7AB5}"/>
              </a:ext>
            </a:extLst>
          </p:cNvPr>
          <p:cNvSpPr>
            <a:spLocks noGrp="1"/>
          </p:cNvSpPr>
          <p:nvPr>
            <p:ph type="title"/>
          </p:nvPr>
        </p:nvSpPr>
        <p:spPr/>
        <p:txBody>
          <a:bodyPr/>
          <a:lstStyle/>
          <a:p>
            <a:pPr algn="ctr"/>
            <a:r>
              <a:rPr lang="en-IN" b="1" dirty="0"/>
              <a:t>Hyperparameter Tuning</a:t>
            </a:r>
          </a:p>
        </p:txBody>
      </p:sp>
      <p:sp>
        <p:nvSpPr>
          <p:cNvPr id="3" name="Text Placeholder 2">
            <a:extLst>
              <a:ext uri="{FF2B5EF4-FFF2-40B4-BE49-F238E27FC236}">
                <a16:creationId xmlns:a16="http://schemas.microsoft.com/office/drawing/2014/main" id="{CB2C4137-A8AF-C04F-47B2-6E080FEF5E67}"/>
              </a:ext>
            </a:extLst>
          </p:cNvPr>
          <p:cNvSpPr>
            <a:spLocks noGrp="1"/>
          </p:cNvSpPr>
          <p:nvPr>
            <p:ph type="body" idx="1"/>
          </p:nvPr>
        </p:nvSpPr>
        <p:spPr/>
        <p:txBody>
          <a:bodyPr/>
          <a:lstStyle/>
          <a:p>
            <a:r>
              <a:rPr lang="en-US" dirty="0"/>
              <a:t>Hyperparameter Tuning was performed to optimize the performance of the </a:t>
            </a:r>
            <a:r>
              <a:rPr lang="en-US" dirty="0" err="1"/>
              <a:t>XGBoost</a:t>
            </a:r>
            <a:r>
              <a:rPr lang="en-US" dirty="0"/>
              <a:t> Regressor. </a:t>
            </a:r>
            <a:r>
              <a:rPr lang="en-US" dirty="0" err="1"/>
              <a:t>RandomizedSearchCV</a:t>
            </a:r>
            <a:r>
              <a:rPr lang="en-US" dirty="0"/>
              <a:t> was used to search for the best combination of model parameters. Parameters such as number of estimators, maximum depth, learning rate, subsample, and column sample by tree were optimized. After tuning, the </a:t>
            </a:r>
            <a:r>
              <a:rPr lang="en-US" dirty="0" err="1"/>
              <a:t>XGBoost</a:t>
            </a:r>
            <a:r>
              <a:rPr lang="en-US" dirty="0"/>
              <a:t> model achieved improved accuracy and better prediction performance, making it the final selected model for predictive maintenance and Remaining Useful Life prediction.</a:t>
            </a:r>
          </a:p>
          <a:p>
            <a:endParaRPr lang="en-IN" dirty="0"/>
          </a:p>
        </p:txBody>
      </p:sp>
      <p:pic>
        <p:nvPicPr>
          <p:cNvPr id="5" name="Picture 4">
            <a:extLst>
              <a:ext uri="{FF2B5EF4-FFF2-40B4-BE49-F238E27FC236}">
                <a16:creationId xmlns:a16="http://schemas.microsoft.com/office/drawing/2014/main" id="{D30B6AA3-3A34-C998-3CDF-5EC8CDC650A8}"/>
              </a:ext>
            </a:extLst>
          </p:cNvPr>
          <p:cNvPicPr>
            <a:picLocks noChangeAspect="1"/>
          </p:cNvPicPr>
          <p:nvPr/>
        </p:nvPicPr>
        <p:blipFill>
          <a:blip r:embed="rId2"/>
          <a:stretch>
            <a:fillRect/>
          </a:stretch>
        </p:blipFill>
        <p:spPr>
          <a:xfrm>
            <a:off x="3744527" y="5434651"/>
            <a:ext cx="3657917" cy="952583"/>
          </a:xfrm>
          <a:prstGeom prst="rect">
            <a:avLst/>
          </a:prstGeom>
        </p:spPr>
      </p:pic>
    </p:spTree>
    <p:extLst>
      <p:ext uri="{BB962C8B-B14F-4D97-AF65-F5344CB8AC3E}">
        <p14:creationId xmlns:p14="http://schemas.microsoft.com/office/powerpoint/2010/main" val="36998983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8109138-7B02-0C45-CFF5-713E2D458C53}"/>
              </a:ext>
            </a:extLst>
          </p:cNvPr>
          <p:cNvSpPr>
            <a:spLocks noGrp="1"/>
          </p:cNvSpPr>
          <p:nvPr>
            <p:ph type="title"/>
          </p:nvPr>
        </p:nvSpPr>
        <p:spPr/>
        <p:txBody>
          <a:bodyPr/>
          <a:lstStyle/>
          <a:p>
            <a:pPr algn="ctr"/>
            <a:r>
              <a:rPr lang="en-US" b="1" dirty="0"/>
              <a:t>Workflow of Model</a:t>
            </a:r>
            <a:endParaRPr lang="en-IN" b="1" dirty="0"/>
          </a:p>
        </p:txBody>
      </p:sp>
      <p:pic>
        <p:nvPicPr>
          <p:cNvPr id="3" name="Picture 2">
            <a:extLst>
              <a:ext uri="{FF2B5EF4-FFF2-40B4-BE49-F238E27FC236}">
                <a16:creationId xmlns:a16="http://schemas.microsoft.com/office/drawing/2014/main" id="{6A3D0C0F-D466-DEDC-8485-705092B97061}"/>
              </a:ext>
            </a:extLst>
          </p:cNvPr>
          <p:cNvPicPr>
            <a:picLocks noChangeAspect="1"/>
          </p:cNvPicPr>
          <p:nvPr/>
        </p:nvPicPr>
        <p:blipFill>
          <a:blip r:embed="rId2"/>
          <a:stretch>
            <a:fillRect/>
          </a:stretch>
        </p:blipFill>
        <p:spPr>
          <a:xfrm>
            <a:off x="3749040" y="1767840"/>
            <a:ext cx="4250804" cy="4185919"/>
          </a:xfrm>
          <a:prstGeom prst="rect">
            <a:avLst/>
          </a:prstGeom>
        </p:spPr>
      </p:pic>
    </p:spTree>
    <p:extLst>
      <p:ext uri="{BB962C8B-B14F-4D97-AF65-F5344CB8AC3E}">
        <p14:creationId xmlns:p14="http://schemas.microsoft.com/office/powerpoint/2010/main" val="2591678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F3C0BFF0-3799-C89E-FC9F-C5AA4B751FBA}"/>
              </a:ext>
            </a:extLst>
          </p:cNvPr>
          <p:cNvSpPr>
            <a:spLocks noGrp="1"/>
          </p:cNvSpPr>
          <p:nvPr>
            <p:ph type="title"/>
          </p:nvPr>
        </p:nvSpPr>
        <p:spPr/>
        <p:txBody>
          <a:bodyPr/>
          <a:lstStyle/>
          <a:p>
            <a:pPr algn="ctr"/>
            <a:r>
              <a:rPr lang="en-IN" b="1" dirty="0"/>
              <a:t>MODEL PERFORMANCE</a:t>
            </a:r>
          </a:p>
        </p:txBody>
      </p:sp>
      <p:sp>
        <p:nvSpPr>
          <p:cNvPr id="7" name="Text Placeholder 6">
            <a:extLst>
              <a:ext uri="{FF2B5EF4-FFF2-40B4-BE49-F238E27FC236}">
                <a16:creationId xmlns:a16="http://schemas.microsoft.com/office/drawing/2014/main" id="{F0BB66FB-C0AA-6684-DEE0-73195AD15C17}"/>
              </a:ext>
            </a:extLst>
          </p:cNvPr>
          <p:cNvSpPr>
            <a:spLocks noGrp="1"/>
          </p:cNvSpPr>
          <p:nvPr>
            <p:ph type="body" idx="4294967295"/>
          </p:nvPr>
        </p:nvSpPr>
        <p:spPr>
          <a:xfrm>
            <a:off x="432525" y="1822621"/>
            <a:ext cx="11646039" cy="4351337"/>
          </a:xfrm>
        </p:spPr>
        <p:txBody>
          <a:bodyPr/>
          <a:lstStyle/>
          <a:p>
            <a:endParaRPr lang="en-US" dirty="0"/>
          </a:p>
          <a:p>
            <a:pPr marL="114300" indent="0">
              <a:buNone/>
            </a:pPr>
            <a:r>
              <a:rPr lang="en-US" dirty="0"/>
              <a:t>1. High R² Score (0.85)</a:t>
            </a:r>
          </a:p>
          <a:p>
            <a:pPr marL="114300" indent="0">
              <a:buNone/>
            </a:pPr>
            <a:r>
              <a:rPr lang="en-IN" dirty="0"/>
              <a:t>2. Low MAE (3.21)</a:t>
            </a:r>
          </a:p>
          <a:p>
            <a:pPr marL="114300" indent="0">
              <a:buNone/>
            </a:pPr>
            <a:r>
              <a:rPr lang="en-IN" dirty="0"/>
              <a:t>3. Lower MSE (16.46)</a:t>
            </a:r>
          </a:p>
          <a:p>
            <a:pPr marL="114300" indent="0">
              <a:buNone/>
            </a:pPr>
            <a:r>
              <a:rPr lang="en-US" dirty="0" err="1"/>
              <a:t>XGBoost</a:t>
            </a:r>
            <a:r>
              <a:rPr lang="en-US" dirty="0"/>
              <a:t> was selected as the final model because it achieved the best performance across all evaluation metrics. It has an R² score of around 0.85, indicating strong predictive capability</a:t>
            </a:r>
            <a:endParaRPr lang="en-IN" dirty="0"/>
          </a:p>
        </p:txBody>
      </p:sp>
    </p:spTree>
    <p:extLst>
      <p:ext uri="{BB962C8B-B14F-4D97-AF65-F5344CB8AC3E}">
        <p14:creationId xmlns:p14="http://schemas.microsoft.com/office/powerpoint/2010/main" val="27054464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1A4A1-B719-4ED0-3E9B-1A4DD73AD029}"/>
              </a:ext>
            </a:extLst>
          </p:cNvPr>
          <p:cNvSpPr>
            <a:spLocks noGrp="1"/>
          </p:cNvSpPr>
          <p:nvPr>
            <p:ph type="title"/>
          </p:nvPr>
        </p:nvSpPr>
        <p:spPr/>
        <p:txBody>
          <a:bodyPr/>
          <a:lstStyle/>
          <a:p>
            <a:pPr algn="ctr"/>
            <a:r>
              <a:rPr lang="en-IN" b="1" dirty="0"/>
              <a:t>Clustering</a:t>
            </a:r>
          </a:p>
        </p:txBody>
      </p:sp>
      <p:sp>
        <p:nvSpPr>
          <p:cNvPr id="3" name="Text Placeholder 2">
            <a:extLst>
              <a:ext uri="{FF2B5EF4-FFF2-40B4-BE49-F238E27FC236}">
                <a16:creationId xmlns:a16="http://schemas.microsoft.com/office/drawing/2014/main" id="{1FAB4BE8-56B9-FA0F-06FD-25A04D73BF53}"/>
              </a:ext>
            </a:extLst>
          </p:cNvPr>
          <p:cNvSpPr>
            <a:spLocks noGrp="1"/>
          </p:cNvSpPr>
          <p:nvPr>
            <p:ph type="body" idx="1"/>
          </p:nvPr>
        </p:nvSpPr>
        <p:spPr/>
        <p:txBody>
          <a:bodyPr/>
          <a:lstStyle/>
          <a:p>
            <a:r>
              <a:rPr lang="en-US" dirty="0"/>
              <a:t>Clustering is an unsupervised machine learning technique used to group similar data points based on their patterns and characteristics. In this project, </a:t>
            </a:r>
            <a:r>
              <a:rPr lang="en-US" dirty="0" err="1"/>
              <a:t>KMeans</a:t>
            </a:r>
            <a:r>
              <a:rPr lang="en-US" dirty="0"/>
              <a:t> clustering was applied on aircraft engine sensor data to identify hidden degradation patterns and classify engine conditions into different health states such as Healthy, Warning, and Critical. PCA was used before clustering to reduce dimensionality and improve cluster visualization. Clustering helped in understanding engine degradation behavior and generating maintenance alerts for predictive maintenance.</a:t>
            </a:r>
            <a:endParaRPr lang="en-IN" dirty="0"/>
          </a:p>
        </p:txBody>
      </p:sp>
    </p:spTree>
    <p:extLst>
      <p:ext uri="{BB962C8B-B14F-4D97-AF65-F5344CB8AC3E}">
        <p14:creationId xmlns:p14="http://schemas.microsoft.com/office/powerpoint/2010/main" val="34339287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3877A-CA53-BE88-75EC-B35A01EEA02D}"/>
              </a:ext>
            </a:extLst>
          </p:cNvPr>
          <p:cNvSpPr>
            <a:spLocks noGrp="1"/>
          </p:cNvSpPr>
          <p:nvPr>
            <p:ph type="title"/>
          </p:nvPr>
        </p:nvSpPr>
        <p:spPr/>
        <p:txBody>
          <a:bodyPr/>
          <a:lstStyle/>
          <a:p>
            <a:pPr algn="ctr"/>
            <a:r>
              <a:rPr lang="en-IN" b="1" dirty="0"/>
              <a:t>Model Deployment</a:t>
            </a:r>
          </a:p>
        </p:txBody>
      </p:sp>
      <p:sp>
        <p:nvSpPr>
          <p:cNvPr id="3" name="Text Placeholder 2">
            <a:extLst>
              <a:ext uri="{FF2B5EF4-FFF2-40B4-BE49-F238E27FC236}">
                <a16:creationId xmlns:a16="http://schemas.microsoft.com/office/drawing/2014/main" id="{485FE9BC-C67A-C7C5-A4BE-566C6DD6F599}"/>
              </a:ext>
            </a:extLst>
          </p:cNvPr>
          <p:cNvSpPr>
            <a:spLocks noGrp="1"/>
          </p:cNvSpPr>
          <p:nvPr>
            <p:ph type="body" idx="1"/>
          </p:nvPr>
        </p:nvSpPr>
        <p:spPr/>
        <p:txBody>
          <a:bodyPr/>
          <a:lstStyle/>
          <a:p>
            <a:r>
              <a:rPr lang="en-IN" dirty="0"/>
              <a:t>For deployment Used </a:t>
            </a:r>
            <a:r>
              <a:rPr lang="en-IN" dirty="0" err="1"/>
              <a:t>Streamlit</a:t>
            </a:r>
            <a:r>
              <a:rPr lang="en-IN" dirty="0"/>
              <a:t> for Building a simple UI where users can input data and get predictions. </a:t>
            </a:r>
          </a:p>
          <a:p>
            <a:r>
              <a:rPr lang="en-IN" dirty="0"/>
              <a:t>Pushing </a:t>
            </a:r>
            <a:r>
              <a:rPr lang="en-IN" dirty="0" err="1"/>
              <a:t>Streamlit</a:t>
            </a:r>
            <a:r>
              <a:rPr lang="en-IN" dirty="0"/>
              <a:t> app to Hugging Face Spaces for free hosting </a:t>
            </a:r>
          </a:p>
          <a:p>
            <a:r>
              <a:rPr lang="en-IN" dirty="0"/>
              <a:t>Hugging Face:</a:t>
            </a:r>
            <a:r>
              <a:rPr lang="en-US" dirty="0">
                <a:hlinkClick r:id="rId2"/>
              </a:rPr>
              <a:t> Aircraft Engine Prediction - a Hugging Face Space by </a:t>
            </a:r>
            <a:r>
              <a:rPr lang="en-US" dirty="0" err="1">
                <a:hlinkClick r:id="rId2"/>
              </a:rPr>
              <a:t>AkshithaReddyManne</a:t>
            </a:r>
            <a:endParaRPr lang="en-IN" dirty="0"/>
          </a:p>
        </p:txBody>
      </p:sp>
    </p:spTree>
    <p:extLst>
      <p:ext uri="{BB962C8B-B14F-4D97-AF65-F5344CB8AC3E}">
        <p14:creationId xmlns:p14="http://schemas.microsoft.com/office/powerpoint/2010/main" val="26404016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55C78-47B0-608E-DA8B-C6F72890A7F1}"/>
              </a:ext>
            </a:extLst>
          </p:cNvPr>
          <p:cNvSpPr>
            <a:spLocks noGrp="1"/>
          </p:cNvSpPr>
          <p:nvPr>
            <p:ph type="title"/>
          </p:nvPr>
        </p:nvSpPr>
        <p:spPr/>
        <p:txBody>
          <a:bodyPr/>
          <a:lstStyle/>
          <a:p>
            <a:pPr algn="ctr"/>
            <a:r>
              <a:rPr lang="en-IN" b="1" dirty="0"/>
              <a:t>RECOMMENDATIONS</a:t>
            </a:r>
          </a:p>
        </p:txBody>
      </p:sp>
      <p:sp>
        <p:nvSpPr>
          <p:cNvPr id="10" name="Rectangle 5">
            <a:extLst>
              <a:ext uri="{FF2B5EF4-FFF2-40B4-BE49-F238E27FC236}">
                <a16:creationId xmlns:a16="http://schemas.microsoft.com/office/drawing/2014/main" id="{C028E865-7CB6-771D-BE3D-4E2B7EF0BE61}"/>
              </a:ext>
            </a:extLst>
          </p:cNvPr>
          <p:cNvSpPr>
            <a:spLocks noGrp="1" noChangeArrowheads="1"/>
          </p:cNvSpPr>
          <p:nvPr>
            <p:ph type="body" idx="1"/>
          </p:nvPr>
        </p:nvSpPr>
        <p:spPr bwMode="auto">
          <a:xfrm>
            <a:off x="838200" y="2322384"/>
            <a:ext cx="1040381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Implement real-time engine monitoring systems using sensor data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Perform predictive maintenance instead of fixed scheduled maintenance </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Continuously monitor critical sensor values for early fault detection </a:t>
            </a:r>
          </a:p>
          <a:p>
            <a:pPr marL="285750" lvl="0" indent="-285750" eaLnBrk="0" fontAlgn="base" hangingPunct="0">
              <a:lnSpc>
                <a:spcPct val="100000"/>
              </a:lnSpc>
              <a:spcBef>
                <a:spcPct val="0"/>
              </a:spcBef>
              <a:spcAft>
                <a:spcPct val="0"/>
              </a:spcAft>
              <a:buClrTx/>
              <a:buSzTx/>
              <a:buFont typeface="Arial" panose="020B0604020202020204" pitchFamily="34" charset="0"/>
              <a:buChar char="•"/>
            </a:pPr>
            <a:r>
              <a:rPr lang="en-US" sz="2400" dirty="0"/>
              <a:t>Use automated alert systems for maintenance decision support</a:t>
            </a: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603918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E3B88-9B67-4560-B6EF-0026371AF328}"/>
              </a:ext>
            </a:extLst>
          </p:cNvPr>
          <p:cNvSpPr>
            <a:spLocks noGrp="1"/>
          </p:cNvSpPr>
          <p:nvPr>
            <p:ph type="title"/>
          </p:nvPr>
        </p:nvSpPr>
        <p:spPr/>
        <p:txBody>
          <a:bodyPr/>
          <a:lstStyle/>
          <a:p>
            <a:pPr algn="ctr"/>
            <a:r>
              <a:rPr lang="en-IN" b="1" dirty="0"/>
              <a:t>CHALLENGES</a:t>
            </a:r>
          </a:p>
        </p:txBody>
      </p:sp>
      <p:sp>
        <p:nvSpPr>
          <p:cNvPr id="4" name="Rectangle 1">
            <a:extLst>
              <a:ext uri="{FF2B5EF4-FFF2-40B4-BE49-F238E27FC236}">
                <a16:creationId xmlns:a16="http://schemas.microsoft.com/office/drawing/2014/main" id="{708A2341-EA6F-28DB-ADAD-8BF5FA15E142}"/>
              </a:ext>
            </a:extLst>
          </p:cNvPr>
          <p:cNvSpPr>
            <a:spLocks noGrp="1" noChangeArrowheads="1"/>
          </p:cNvSpPr>
          <p:nvPr>
            <p:ph type="body" idx="1"/>
          </p:nvPr>
        </p:nvSpPr>
        <p:spPr bwMode="auto">
          <a:xfrm>
            <a:off x="331595" y="2904812"/>
            <a:ext cx="11746523"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 </a:t>
            </a:r>
          </a:p>
        </p:txBody>
      </p:sp>
      <p:sp>
        <p:nvSpPr>
          <p:cNvPr id="5" name="Rectangle 2">
            <a:extLst>
              <a:ext uri="{FF2B5EF4-FFF2-40B4-BE49-F238E27FC236}">
                <a16:creationId xmlns:a16="http://schemas.microsoft.com/office/drawing/2014/main" id="{166B911B-7E63-EEC6-179E-47384D5EF452}"/>
              </a:ext>
            </a:extLst>
          </p:cNvPr>
          <p:cNvSpPr>
            <a:spLocks noChangeArrowheads="1"/>
          </p:cNvSpPr>
          <p:nvPr/>
        </p:nvSpPr>
        <p:spPr bwMode="auto">
          <a:xfrm>
            <a:off x="351915" y="1442874"/>
            <a:ext cx="10068782" cy="184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Identifying meaningful degradation patterns from noisy sensor readings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Managing large time-series datasets efficiently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Selecting the most important sensor features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Arial" panose="020B0604020202020204" pitchFamily="34" charset="0"/>
              </a:rPr>
              <a:t>Handling high-dimensional sensor data from multiple engines </a:t>
            </a:r>
          </a:p>
        </p:txBody>
      </p:sp>
    </p:spTree>
    <p:extLst>
      <p:ext uri="{BB962C8B-B14F-4D97-AF65-F5344CB8AC3E}">
        <p14:creationId xmlns:p14="http://schemas.microsoft.com/office/powerpoint/2010/main" val="24333228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9ABE01-EE0A-7DFA-CF4E-F9A42F12A769}"/>
              </a:ext>
            </a:extLst>
          </p:cNvPr>
          <p:cNvSpPr>
            <a:spLocks noGrp="1"/>
          </p:cNvSpPr>
          <p:nvPr>
            <p:ph type="title"/>
          </p:nvPr>
        </p:nvSpPr>
        <p:spPr/>
        <p:txBody>
          <a:bodyPr/>
          <a:lstStyle/>
          <a:p>
            <a:pPr algn="ctr"/>
            <a:r>
              <a:rPr lang="en-IN" b="1" dirty="0"/>
              <a:t>CONCLUSION</a:t>
            </a:r>
          </a:p>
        </p:txBody>
      </p:sp>
      <p:sp>
        <p:nvSpPr>
          <p:cNvPr id="3" name="Text Placeholder 2">
            <a:extLst>
              <a:ext uri="{FF2B5EF4-FFF2-40B4-BE49-F238E27FC236}">
                <a16:creationId xmlns:a16="http://schemas.microsoft.com/office/drawing/2014/main" id="{22037527-3D4E-1B62-0ED4-9B1F57B0FE2E}"/>
              </a:ext>
            </a:extLst>
          </p:cNvPr>
          <p:cNvSpPr>
            <a:spLocks noGrp="1"/>
          </p:cNvSpPr>
          <p:nvPr>
            <p:ph type="body" idx="1"/>
          </p:nvPr>
        </p:nvSpPr>
        <p:spPr>
          <a:xfrm>
            <a:off x="130629" y="1825625"/>
            <a:ext cx="11766619" cy="4351338"/>
          </a:xfrm>
        </p:spPr>
        <p:txBody>
          <a:bodyPr/>
          <a:lstStyle/>
          <a:p>
            <a:r>
              <a:rPr lang="en-US" dirty="0"/>
              <a:t>This project developed an AI-based predictive maintenance system for aircraft engines using machine learning and </a:t>
            </a:r>
            <a:r>
              <a:rPr lang="en-US" dirty="0" err="1"/>
              <a:t>KMeans</a:t>
            </a:r>
            <a:r>
              <a:rPr lang="en-US" dirty="0"/>
              <a:t> clustering techniques. The system predicts Remaining Useful Life (RUL), identifies engine health conditions, and classifies engines into Healthy, Warning, and Critical clusters using sensor data. </a:t>
            </a:r>
            <a:r>
              <a:rPr lang="en-US" dirty="0" err="1"/>
              <a:t>XGBoost</a:t>
            </a:r>
            <a:r>
              <a:rPr lang="en-US" dirty="0"/>
              <a:t> achieved the best prediction performance, and the </a:t>
            </a:r>
            <a:r>
              <a:rPr lang="en-US" dirty="0" err="1"/>
              <a:t>Streamlit</a:t>
            </a:r>
            <a:r>
              <a:rPr lang="en-US" dirty="0"/>
              <a:t> dashboard provides real-time monitoring, visualization, clustering analysis, and maintenance alerts for intelligent decision-making.</a:t>
            </a:r>
          </a:p>
          <a:p>
            <a:endParaRPr lang="en-IN" dirty="0"/>
          </a:p>
        </p:txBody>
      </p:sp>
    </p:spTree>
    <p:extLst>
      <p:ext uri="{BB962C8B-B14F-4D97-AF65-F5344CB8AC3E}">
        <p14:creationId xmlns:p14="http://schemas.microsoft.com/office/powerpoint/2010/main" val="24914941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116" name="Google Shape;116;p5"/>
          <p:cNvPicPr preferRelativeResize="0"/>
          <p:nvPr/>
        </p:nvPicPr>
        <p:blipFill rotWithShape="1">
          <a:blip r:embed="rId3">
            <a:alphaModFix/>
          </a:blip>
          <a:srcRect/>
          <a:stretch/>
        </p:blipFill>
        <p:spPr>
          <a:xfrm>
            <a:off x="6466516" y="1850749"/>
            <a:ext cx="4465643" cy="2834317"/>
          </a:xfrm>
          <a:prstGeom prst="rect">
            <a:avLst/>
          </a:prstGeom>
          <a:noFill/>
          <a:ln>
            <a:noFill/>
          </a:ln>
        </p:spPr>
      </p:pic>
      <p:sp>
        <p:nvSpPr>
          <p:cNvPr id="117" name="Google Shape;117;p5"/>
          <p:cNvSpPr txBox="1"/>
          <p:nvPr/>
        </p:nvSpPr>
        <p:spPr>
          <a:xfrm>
            <a:off x="1244600" y="2997200"/>
            <a:ext cx="3661836" cy="76944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C00000"/>
              </a:buClr>
              <a:buSzPts val="4400"/>
              <a:buFont typeface="Libre Baskerville"/>
              <a:buNone/>
            </a:pPr>
            <a:r>
              <a:rPr lang="en-IN" sz="4400" b="0" i="0" u="none" strike="noStrike" cap="none">
                <a:solidFill>
                  <a:srgbClr val="C00000"/>
                </a:solidFill>
                <a:latin typeface="Libre Baskerville"/>
                <a:ea typeface="Libre Baskerville"/>
                <a:cs typeface="Libre Baskerville"/>
                <a:sym typeface="Libre Baskerville"/>
              </a:rPr>
              <a:t>THANK YOU</a:t>
            </a: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556</TotalTime>
  <Words>1135</Words>
  <Application>Microsoft Office PowerPoint</Application>
  <PresentationFormat>Widescreen</PresentationFormat>
  <Paragraphs>129</Paragraphs>
  <Slides>23</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23</vt:i4>
      </vt:variant>
    </vt:vector>
  </HeadingPairs>
  <TitlesOfParts>
    <vt:vector size="27" baseType="lpstr">
      <vt:lpstr>Libre Baskerville</vt:lpstr>
      <vt:lpstr>Calibri</vt:lpstr>
      <vt:lpstr>Arial</vt:lpstr>
      <vt:lpstr>Office Theme</vt:lpstr>
      <vt:lpstr>PowerPoint Presentation</vt:lpstr>
      <vt:lpstr>AGENDA</vt:lpstr>
      <vt:lpstr>INTRODUCTION</vt:lpstr>
      <vt:lpstr>PowerPoint Presentation</vt:lpstr>
      <vt:lpstr>BUSINESS PROBLEM</vt:lpstr>
      <vt:lpstr>OBJECTIVE </vt:lpstr>
      <vt:lpstr>Data Understanding</vt:lpstr>
      <vt:lpstr>Data Preprocessing</vt:lpstr>
      <vt:lpstr>Feature Engineering</vt:lpstr>
      <vt:lpstr>MODEL BUILDING</vt:lpstr>
      <vt:lpstr>Model Evaluation</vt:lpstr>
      <vt:lpstr>MODEL PERFORMANCE COMPARISION</vt:lpstr>
      <vt:lpstr>Checking Overfit Issue</vt:lpstr>
      <vt:lpstr>Cross Validation</vt:lpstr>
      <vt:lpstr>Hyperparameter Tuning</vt:lpstr>
      <vt:lpstr>Workflow of Model</vt:lpstr>
      <vt:lpstr>MODEL PERFORMANCE</vt:lpstr>
      <vt:lpstr>Clustering</vt:lpstr>
      <vt:lpstr>Model Deployment</vt:lpstr>
      <vt:lpstr>RECOMMENDATIONS</vt:lpstr>
      <vt:lpstr>CHALLENGES</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Raghu Ram Aduri</dc:creator>
  <cp:lastModifiedBy>Akshitha Manne</cp:lastModifiedBy>
  <cp:revision>2</cp:revision>
  <dcterms:created xsi:type="dcterms:W3CDTF">2021-02-16T05:19:01Z</dcterms:created>
  <dcterms:modified xsi:type="dcterms:W3CDTF">2026-05-13T06:03:37Z</dcterms:modified>
</cp:coreProperties>
</file>